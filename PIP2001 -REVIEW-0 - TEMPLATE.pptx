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70" r:id="rId11"/>
    <p:sldId id="274" r:id="rId12"/>
    <p:sldId id="271" r:id="rId13"/>
    <p:sldId id="272" r:id="rId14"/>
    <p:sldId id="273" r:id="rId15"/>
    <p:sldId id="269" r:id="rId16"/>
    <p:sldId id="263" r:id="rId17"/>
    <p:sldId id="264" r:id="rId18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6A6"/>
    <a:srgbClr val="104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ACE7C-3672-40A3-AE7C-B1565CC12E99}" v="691" dt="2024-09-16T08:47:11.615"/>
    <p1510:client id="{768A258A-8ACF-434A-B02B-E9BAAD9818B4}" v="385" dt="2024-09-18T05:59:33.684"/>
    <p1510:client id="{DEBB895E-8AC9-4F93-AFC3-54F1F15D5F60}" v="240" vWet="242" dt="2024-09-16T09:35:05.788"/>
    <p1510:client id="{E357936D-D8F1-48A3-9505-A7F142F63651}" v="896" dt="2024-09-16T15:29:29.844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66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 powered automated patient documentation and prescription software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880116" y="1820623"/>
            <a:ext cx="3970500" cy="42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CAI-G19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022955409"/>
              </p:ext>
            </p:extLst>
          </p:nvPr>
        </p:nvGraphicFramePr>
        <p:xfrm>
          <a:off x="699024" y="2254892"/>
          <a:ext cx="5418675" cy="20422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9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600" b="1" u="none" strike="noStrike" cap="none"/>
                        <a:t>20211CAI0080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R KESHAV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20211CAI0087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 dirty="0"/>
                        <a:t>RAKSHITHA KT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20211CAI0109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S SRINIVAS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20211CAI0112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 dirty="0"/>
                        <a:t>SHOVIN WILSON AW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/>
                        <a:t>20211CAI0187</a:t>
                      </a:r>
                      <a:endParaRPr sz="16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 dirty="0"/>
                        <a:t>PREM JE KALISTER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244871" y="2255604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buClr>
                <a:srgbClr val="17365D"/>
              </a:buClr>
              <a:buSzPts val="2000"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Verdana"/>
                <a:sym typeface="Verdana"/>
              </a:rPr>
              <a:t>Under the Supervision of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  <a:sym typeface="Verdana"/>
            </a:endParaRPr>
          </a:p>
          <a:p>
            <a:pPr algn="ctr">
              <a:buSzPts val="2000"/>
            </a:pPr>
            <a:endParaRPr lang="en-GB" sz="2000" b="1" dirty="0">
              <a:solidFill>
                <a:srgbClr val="17365D"/>
              </a:solidFill>
              <a:latin typeface="Cambria"/>
              <a:ea typeface="Cambria"/>
              <a:cs typeface="Verdana"/>
              <a:sym typeface="Verdana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GB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Dr. AKSHATHA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 Y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</a:endParaRPr>
          </a:p>
          <a:p>
            <a:pPr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Assistant Professor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 </a:t>
            </a:r>
            <a:endParaRPr lang="en-US" sz="1800" dirty="0">
              <a:solidFill>
                <a:schemeClr val="tx1"/>
              </a:solidFill>
              <a:latin typeface="Cambria"/>
              <a:ea typeface="Cambri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School of Computer Science and Engineering</a:t>
            </a:r>
            <a:endParaRPr lang="en-US" sz="1600" dirty="0">
              <a:solidFill>
                <a:schemeClr val="tx1"/>
              </a:solidFill>
              <a:latin typeface="Cambria"/>
              <a:ea typeface="Cambri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Presidency University</a:t>
            </a:r>
            <a:endParaRPr lang="en-US" sz="1600" dirty="0">
              <a:solidFill>
                <a:schemeClr val="tx1"/>
              </a:solidFill>
              <a:latin typeface="Cambria"/>
              <a:ea typeface="Cambria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334089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PIP2001 Capstone Project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Review-0</a:t>
            </a: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95616" y="4665369"/>
            <a:ext cx="1097244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bg2">
                    <a:lumMod val="49000"/>
                  </a:schemeClr>
                </a:solidFill>
                <a:latin typeface="Cambria"/>
                <a:ea typeface="Cambria"/>
                <a:cs typeface="Verdana"/>
                <a:sym typeface="Verdana"/>
              </a:rPr>
              <a:t>Name of the Program: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B.TECH Computer Science and Engineering (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AIML)</a:t>
            </a:r>
            <a:endParaRPr lang="en-US" sz="1800" b="1" i="0" u="none" strike="noStrike" cap="none" dirty="0">
              <a:solidFill>
                <a:schemeClr val="tx1"/>
              </a:solidFill>
              <a:latin typeface="Cambria"/>
              <a:ea typeface="Cambria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bg2">
                    <a:lumMod val="49000"/>
                  </a:schemeClr>
                </a:solidFill>
                <a:latin typeface="Cambria"/>
                <a:ea typeface="Cambria"/>
                <a:cs typeface="Verdana"/>
                <a:sym typeface="Verdana"/>
              </a:rPr>
              <a:t>Name of the HoD: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Dr. Zafar Ali Khan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  <a:cs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bg2">
                    <a:lumMod val="49000"/>
                  </a:schemeClr>
                </a:solidFill>
                <a:latin typeface="Cambria"/>
                <a:ea typeface="Cambria"/>
                <a:cs typeface="Verdana"/>
                <a:sym typeface="Verdana"/>
              </a:rPr>
              <a:t>Name of the Program Project Coordinator: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Dr. Afroz Pasha</a:t>
            </a:r>
            <a:endParaRPr lang="en-US" sz="1800" b="1" i="0" u="none" strike="noStrike" cap="none" dirty="0">
              <a:solidFill>
                <a:schemeClr val="tx1"/>
              </a:solidFill>
              <a:latin typeface="Cambria"/>
              <a:ea typeface="Cambria"/>
              <a:cs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bg2">
                    <a:lumMod val="49000"/>
                  </a:schemeClr>
                </a:solidFill>
                <a:latin typeface="Cambria"/>
                <a:ea typeface="Cambria"/>
                <a:cs typeface="Verdana"/>
                <a:sym typeface="Verdana"/>
              </a:rPr>
              <a:t>Name of the School Project Coordinators: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Dr. Sampath A K / Dr. Abdul Khadar A / Mr. Md Ziaur Rahman</a:t>
            </a:r>
            <a:endParaRPr lang="en-US" sz="1800" b="1" i="0" u="none" strike="noStrike" cap="none" dirty="0">
              <a:solidFill>
                <a:schemeClr val="tx1"/>
              </a:solidFill>
              <a:latin typeface="Cambria"/>
              <a:ea typeface="Cambri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PSCS45 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Organization: </a:t>
            </a:r>
            <a:r>
              <a:rPr lang="en-US">
                <a:latin typeface="Cambria"/>
                <a:ea typeface="Cambria"/>
              </a:rPr>
              <a:t>Max Healthcare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Category (Hardware / Software / Both) : </a:t>
            </a:r>
            <a:r>
              <a:rPr lang="en-US">
                <a:latin typeface="Cambria"/>
                <a:ea typeface="Cambria"/>
              </a:rPr>
              <a:t>Software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Problem Description: </a:t>
            </a:r>
            <a:r>
              <a:rPr lang="en-US" dirty="0">
                <a:latin typeface="Cambria"/>
                <a:ea typeface="Cambria"/>
              </a:rPr>
              <a:t>Need to Increase facetime between clinicians and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/>
                <a:ea typeface="Cambria"/>
              </a:rPr>
              <a:t>patients. Clinicians spend considerable amount of time capturing patient</a:t>
            </a:r>
            <a:endParaRPr lang="en-US" dirty="0"/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/>
                <a:ea typeface="Cambria"/>
              </a:rPr>
              <a:t>information in hospital software. Need a technical solution like speech to </a:t>
            </a:r>
            <a:r>
              <a:rPr lang="en-US">
                <a:latin typeface="Cambria"/>
                <a:ea typeface="Cambria"/>
              </a:rPr>
              <a:t>text</a:t>
            </a:r>
            <a:endParaRPr lang="en-US"/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>
                <a:latin typeface="Cambria"/>
                <a:ea typeface="Cambria"/>
              </a:rPr>
              <a:t>option</a:t>
            </a:r>
            <a:r>
              <a:rPr lang="en-US" dirty="0">
                <a:latin typeface="Cambria"/>
                <a:ea typeface="Cambria"/>
              </a:rPr>
              <a:t>. </a:t>
            </a:r>
            <a:endParaRPr lang="en-US" dirty="0"/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Difficulty Level: </a:t>
            </a:r>
            <a:r>
              <a:rPr lang="en-US">
                <a:latin typeface="Cambria"/>
                <a:ea typeface="Cambria"/>
              </a:rPr>
              <a:t>Complicated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/>
                <a:ea typeface="Cambria"/>
              </a:rPr>
              <a:t>The </a:t>
            </a:r>
            <a:r>
              <a:rPr lang="en-US" dirty="0" err="1">
                <a:latin typeface="Cambria"/>
                <a:ea typeface="Cambria"/>
              </a:rPr>
              <a:t>Github</a:t>
            </a:r>
            <a:r>
              <a:rPr lang="en-US" dirty="0">
                <a:latin typeface="Cambria"/>
                <a:ea typeface="Cambria"/>
              </a:rPr>
              <a:t>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/>
                <a:ea typeface="Cambria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/>
                <a:ea typeface="Cambria"/>
              </a:rPr>
              <a:t> Link</a:t>
            </a: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dirty="0">
                <a:latin typeface="Cambria"/>
              </a:rPr>
              <a:t>https://github.com/Sake-Srinivas/Capstone-Project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/>
                <a:ea typeface="Cambria"/>
              </a:rPr>
              <a:t>Technology Stack Components:</a:t>
            </a: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latin typeface="Cambria"/>
                <a:ea typeface="Cambria"/>
              </a:rPr>
              <a:t>Languages: </a:t>
            </a:r>
            <a:r>
              <a:rPr lang="en-US" dirty="0">
                <a:latin typeface="Cambria"/>
                <a:ea typeface="Cambria"/>
              </a:rPr>
              <a:t>Python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latin typeface="Cambria"/>
                <a:ea typeface="Cambria"/>
              </a:rPr>
              <a:t>Libraries: </a:t>
            </a:r>
            <a:r>
              <a:rPr lang="en-US" dirty="0" err="1">
                <a:latin typeface="Cambria"/>
                <a:ea typeface="Cambria"/>
              </a:rPr>
              <a:t>soundfile</a:t>
            </a:r>
            <a:r>
              <a:rPr lang="en-US" dirty="0">
                <a:latin typeface="Cambria"/>
                <a:ea typeface="Cambria"/>
              </a:rPr>
              <a:t>, </a:t>
            </a:r>
            <a:r>
              <a:rPr lang="en-US" dirty="0" err="1">
                <a:latin typeface="Cambria"/>
                <a:ea typeface="Cambria"/>
              </a:rPr>
              <a:t>librosa</a:t>
            </a:r>
            <a:r>
              <a:rPr lang="en-US" dirty="0">
                <a:latin typeface="Cambria"/>
                <a:ea typeface="Cambria"/>
              </a:rPr>
              <a:t>, torch, transformers, </a:t>
            </a:r>
            <a:r>
              <a:rPr lang="en-US" dirty="0" err="1">
                <a:latin typeface="Cambria"/>
                <a:ea typeface="Cambria"/>
              </a:rPr>
              <a:t>pyannote</a:t>
            </a:r>
            <a:r>
              <a:rPr lang="en-US" dirty="0">
                <a:latin typeface="Cambria"/>
                <a:ea typeface="Cambria"/>
              </a:rPr>
              <a:t>, </a:t>
            </a:r>
            <a:r>
              <a:rPr lang="en-US" dirty="0" err="1">
                <a:latin typeface="Cambria"/>
                <a:ea typeface="Cambria"/>
              </a:rPr>
              <a:t>huggingface</a:t>
            </a:r>
            <a:endParaRPr lang="en-US" dirty="0">
              <a:latin typeface="Cambria"/>
              <a:ea typeface="Cambria"/>
            </a:endParaRP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/>
                <a:ea typeface="Cambria"/>
              </a:rPr>
              <a:t>                         </a:t>
            </a:r>
            <a:r>
              <a:rPr lang="en-US" dirty="0" err="1">
                <a:latin typeface="Cambria"/>
                <a:ea typeface="Cambria"/>
              </a:rPr>
              <a:t>torchaudio</a:t>
            </a:r>
            <a:r>
              <a:rPr lang="en-US" dirty="0">
                <a:latin typeface="Cambria"/>
                <a:ea typeface="Cambria"/>
              </a:rPr>
              <a:t> etc.</a:t>
            </a:r>
          </a:p>
          <a:p>
            <a:pPr marL="342900" indent="-190500" algn="just">
              <a:spcBef>
                <a:spcPts val="0"/>
              </a:spcBef>
            </a:pPr>
            <a:endParaRPr lang="en-US" dirty="0">
              <a:latin typeface="Cambria"/>
              <a:ea typeface="Cambria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latin typeface="Cambria"/>
                <a:ea typeface="Cambria"/>
              </a:rPr>
              <a:t>Large Language Models: </a:t>
            </a:r>
            <a:r>
              <a:rPr lang="en-US" dirty="0">
                <a:latin typeface="Cambria"/>
                <a:ea typeface="Cambria"/>
              </a:rPr>
              <a:t>wav2vec-base-960h , GPT 3.5 Turbo.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latin typeface="Cambria"/>
                <a:ea typeface="Cambria"/>
              </a:rPr>
              <a:t>Database: </a:t>
            </a:r>
            <a:r>
              <a:rPr lang="en-US" dirty="0">
                <a:latin typeface="Cambria"/>
                <a:ea typeface="Cambria"/>
              </a:rPr>
              <a:t>MySQL, MongoDB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latin typeface="Cambria"/>
                <a:ea typeface="Cambria"/>
              </a:rPr>
              <a:t>Interface: </a:t>
            </a:r>
            <a:r>
              <a:rPr lang="en-US" dirty="0">
                <a:latin typeface="Cambria"/>
                <a:ea typeface="Cambria"/>
              </a:rPr>
              <a:t>Streamlit/Flask, HTML, CSS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>
                <a:latin typeface="Cambria"/>
                <a:ea typeface="Cambria"/>
              </a:rPr>
              <a:t>Software and Hardware Requirements: </a:t>
            </a:r>
            <a:endParaRPr lang="en-US"/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ambria"/>
                <a:ea typeface="Cambria"/>
              </a:rPr>
              <a:t>Operating System: </a:t>
            </a:r>
            <a:r>
              <a:rPr lang="en-US">
                <a:latin typeface="Cambria"/>
                <a:ea typeface="Cambria"/>
              </a:rPr>
              <a:t>Windows 10/11</a:t>
            </a:r>
            <a:endParaRPr lang="en-US"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latin typeface="Cambria"/>
                <a:ea typeface="Cambria"/>
              </a:rPr>
              <a:t>RAM: </a:t>
            </a:r>
            <a:r>
              <a:rPr lang="en-US">
                <a:latin typeface="Cambria"/>
                <a:ea typeface="Cambria"/>
              </a:rPr>
              <a:t>Minimum 4GB, Recommended 8GB and above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latin typeface="Cambria"/>
                <a:ea typeface="Cambria"/>
              </a:rPr>
              <a:t>Processor: </a:t>
            </a:r>
            <a:r>
              <a:rPr lang="en-US">
                <a:latin typeface="Cambria"/>
                <a:ea typeface="Cambria"/>
              </a:rPr>
              <a:t>Intel i3/AMD Ryzen 5 and Above</a:t>
            </a:r>
            <a:endParaRPr lang="en-US" b="1">
              <a:latin typeface="Cambria"/>
              <a:ea typeface="Cambri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latin typeface="Cambria"/>
                <a:ea typeface="Cambria"/>
              </a:rPr>
              <a:t>IDE:</a:t>
            </a:r>
            <a:r>
              <a:rPr lang="en-US">
                <a:latin typeface="Cambria"/>
                <a:ea typeface="Cambria"/>
              </a:rPr>
              <a:t> </a:t>
            </a:r>
            <a:r>
              <a:rPr lang="en-US" err="1">
                <a:latin typeface="Cambria"/>
                <a:ea typeface="Cambria"/>
              </a:rPr>
              <a:t>Jupyter</a:t>
            </a:r>
            <a:r>
              <a:rPr lang="en-US">
                <a:latin typeface="Cambria"/>
                <a:ea typeface="Cambria"/>
              </a:rPr>
              <a:t> Notebook, Visual Studio Code, GitHub </a:t>
            </a:r>
            <a:r>
              <a:rPr lang="en-US" err="1">
                <a:latin typeface="Cambria"/>
                <a:ea typeface="Cambria"/>
              </a:rPr>
              <a:t>Codespaces</a:t>
            </a:r>
            <a:r>
              <a:rPr lang="en-US">
                <a:latin typeface="Cambria"/>
                <a:ea typeface="Cambria"/>
              </a:rPr>
              <a:t>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latin typeface="Cambria"/>
                <a:ea typeface="Cambria"/>
              </a:rPr>
              <a:t>Cloud Computing: </a:t>
            </a:r>
            <a:r>
              <a:rPr lang="en-US">
                <a:latin typeface="Cambria"/>
                <a:ea typeface="Cambria"/>
              </a:rPr>
              <a:t>Google Collaboratory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>
                <a:latin typeface="Cambria"/>
                <a:ea typeface="Cambria"/>
              </a:rPr>
              <a:t>Storage: </a:t>
            </a:r>
            <a:r>
              <a:rPr lang="en-US">
                <a:latin typeface="Cambria"/>
                <a:ea typeface="Cambria"/>
              </a:rPr>
              <a:t>Google Cloud</a:t>
            </a:r>
            <a:endParaRPr lang="en-US" b="1">
              <a:latin typeface="Cambria"/>
              <a:ea typeface="Cambri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77695-06C4-2E65-6F27-02AB64585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35730"/>
            <a:ext cx="7349873" cy="4775604"/>
          </a:xfrm>
        </p:spPr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sz="2000" dirty="0">
                <a:latin typeface="Cambria"/>
              </a:rPr>
              <a:t>Doctors face challenges managing vast patient data </a:t>
            </a:r>
            <a:r>
              <a:rPr lang="en-US" sz="2000">
                <a:latin typeface="Cambria"/>
              </a:rPr>
              <a:t>in EHRs (Electronic Health Records). </a:t>
            </a:r>
            <a:r>
              <a:rPr lang="en-US" sz="2000" dirty="0">
                <a:latin typeface="Cambria"/>
              </a:rPr>
              <a:t>While EHRs capture basic demographics, they don't assist with complex documentation during each visit. Shifting through lab results and updates takes time, reducing face-to-face interaction with patients.    </a:t>
            </a:r>
          </a:p>
          <a:p>
            <a:pPr marL="76200" indent="0">
              <a:buNone/>
            </a:pPr>
            <a:r>
              <a:rPr lang="en-US" sz="2000" b="1" dirty="0">
                <a:latin typeface="Cambria"/>
              </a:rPr>
              <a:t>Concerning issues:</a:t>
            </a:r>
          </a:p>
          <a:p>
            <a:pPr marL="285750" indent="-285750"/>
            <a:r>
              <a:rPr lang="en-US" sz="2000" b="1" dirty="0">
                <a:latin typeface="Cambria"/>
              </a:rPr>
              <a:t>Time-consuming Documentation</a:t>
            </a:r>
            <a:r>
              <a:rPr lang="en-US" sz="2000" dirty="0">
                <a:latin typeface="Cambria"/>
              </a:rPr>
              <a:t>: Doctors spend significant time documenting patient information, limiting time for patient care.</a:t>
            </a:r>
          </a:p>
          <a:p>
            <a:pPr marL="285750" indent="-285750"/>
            <a:endParaRPr lang="en-US" sz="2000" dirty="0">
              <a:latin typeface="Cambria"/>
            </a:endParaRPr>
          </a:p>
          <a:p>
            <a:pPr marL="285750" indent="-285750"/>
            <a:r>
              <a:rPr lang="en-US" sz="2000" b="1" dirty="0">
                <a:latin typeface="Cambria"/>
              </a:rPr>
              <a:t>Data Overload</a:t>
            </a:r>
            <a:r>
              <a:rPr lang="en-US" sz="2000" dirty="0">
                <a:latin typeface="Cambria"/>
              </a:rPr>
              <a:t>: Physicians manually extract data from complex EHRs, further slowing their workflows. </a:t>
            </a:r>
          </a:p>
          <a:p>
            <a:pPr marL="285750" indent="-285750"/>
            <a:endParaRPr lang="en-US" sz="2000" dirty="0">
              <a:latin typeface="Cambria"/>
            </a:endParaRPr>
          </a:p>
          <a:p>
            <a:pPr marL="285750" indent="-285750"/>
            <a:r>
              <a:rPr lang="en-US" sz="2000" b="1" dirty="0">
                <a:latin typeface="Cambria"/>
              </a:rPr>
              <a:t>Complex Medical Terminology</a:t>
            </a:r>
            <a:r>
              <a:rPr lang="en-US" sz="2000" dirty="0">
                <a:latin typeface="Cambria"/>
              </a:rPr>
              <a:t>: Documentation involves technical terms derived from multiple tests, complicating the writing and typing process</a:t>
            </a:r>
            <a:r>
              <a:rPr lang="en-US" sz="2000" dirty="0"/>
              <a:t>.</a:t>
            </a:r>
          </a:p>
          <a:p>
            <a:pPr marL="76200" indent="0">
              <a:buNone/>
            </a:pPr>
            <a:endParaRPr lang="en-US" sz="2000" dirty="0">
              <a:latin typeface="Cambria"/>
            </a:endParaRPr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1E47EFB-9BCE-775C-CF9B-D26A80E30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673" y="1717443"/>
            <a:ext cx="3812177" cy="38121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B59E-69C4-EFFB-F212-38FF3E24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17707-46B7-BF84-52E1-B031D3D42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51859"/>
            <a:ext cx="5721048" cy="455385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</a:rPr>
              <a:t>Proposed Solution:</a:t>
            </a:r>
          </a:p>
          <a:p>
            <a:pPr marL="0" indent="0">
              <a:buNone/>
            </a:pPr>
            <a:endParaRPr lang="en-US" sz="2000">
              <a:latin typeface="Cambria"/>
              <a:cs typeface="Calibri"/>
            </a:endParaRPr>
          </a:p>
          <a:p>
            <a:pPr marL="285750" indent="-285750"/>
            <a:r>
              <a:rPr lang="en-US" sz="2000" b="1">
                <a:latin typeface="Cambria"/>
                <a:cs typeface="Calibri"/>
              </a:rPr>
              <a:t>Speech-to-Text Integration</a:t>
            </a:r>
            <a:r>
              <a:rPr lang="en-US" sz="2000">
                <a:latin typeface="Cambria"/>
                <a:cs typeface="Calibri"/>
              </a:rPr>
              <a:t>: Capture live conversations between doctors and patients, extracting essential details in real time. </a:t>
            </a:r>
          </a:p>
          <a:p>
            <a:pPr marL="285750" indent="-285750"/>
            <a:r>
              <a:rPr lang="en-US" sz="2000" b="1">
                <a:latin typeface="Cambria"/>
                <a:cs typeface="Calibri"/>
              </a:rPr>
              <a:t>AI-Powered Summarization</a:t>
            </a:r>
            <a:r>
              <a:rPr lang="en-US" sz="2000">
                <a:latin typeface="Cambria"/>
                <a:cs typeface="Calibri"/>
              </a:rPr>
              <a:t>: Use Generative AI (e.g., GPT) to mine and summarize patient records, reducing the time spent on data extraction. </a:t>
            </a:r>
          </a:p>
          <a:p>
            <a:pPr marL="285750" indent="-285750"/>
            <a:r>
              <a:rPr lang="en-US" sz="2000" b="1">
                <a:latin typeface="Cambria"/>
                <a:cs typeface="Calibri"/>
              </a:rPr>
              <a:t>Additional Input</a:t>
            </a:r>
            <a:r>
              <a:rPr lang="en-US" sz="2000">
                <a:latin typeface="Cambria"/>
                <a:cs typeface="Calibri"/>
              </a:rPr>
              <a:t>: Doctors can add supplementary information via voice, reducing manual entry efforts.</a:t>
            </a:r>
            <a:endParaRPr lang="en-US" sz="2000">
              <a:latin typeface="Cambria"/>
            </a:endParaRPr>
          </a:p>
          <a:p>
            <a:pPr marL="76200" indent="0">
              <a:buNone/>
            </a:pPr>
            <a:endParaRPr lang="en-US" sz="2000">
              <a:latin typeface="Cambria"/>
              <a:ea typeface="Cambria"/>
              <a:cs typeface="Calibri"/>
            </a:endParaRPr>
          </a:p>
        </p:txBody>
      </p:sp>
      <p:pic>
        <p:nvPicPr>
          <p:cNvPr id="4" name="Picture 3" descr="A doctor writing on a clipboard&#10;&#10;Description automatically generated">
            <a:extLst>
              <a:ext uri="{FF2B5EF4-FFF2-40B4-BE49-F238E27FC236}">
                <a16:creationId xmlns:a16="http://schemas.microsoft.com/office/drawing/2014/main" id="{68A514DE-623D-9DC8-7ED0-550D9275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61" y="1497315"/>
            <a:ext cx="3948036" cy="386337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FB6F-6244-EBE7-E9EC-3A295E39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37220-5B11-2160-8924-D5F23CC55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55246"/>
            <a:ext cx="4801810" cy="4493381"/>
          </a:xfrm>
        </p:spPr>
        <p:txBody>
          <a:bodyPr>
            <a:normAutofit lnSpcReduction="10000"/>
          </a:bodyPr>
          <a:lstStyle/>
          <a:p>
            <a:pPr marL="0" indent="0" algn="just">
              <a:buSzPct val="100000"/>
              <a:buNone/>
            </a:pPr>
            <a:r>
              <a:rPr lang="en-US">
                <a:latin typeface="Cambria"/>
                <a:ea typeface="Cambria"/>
              </a:rPr>
              <a:t>  </a:t>
            </a:r>
            <a:r>
              <a:rPr lang="en-US" sz="2000">
                <a:latin typeface="Cambria"/>
                <a:ea typeface="Cambria"/>
              </a:rPr>
              <a:t>  </a:t>
            </a:r>
            <a:r>
              <a:rPr lang="en-US" b="1">
                <a:latin typeface="Cambria"/>
              </a:rPr>
              <a:t>Outcome:</a:t>
            </a:r>
          </a:p>
          <a:p>
            <a:pPr marL="0" indent="0" algn="just">
              <a:buSzPct val="100000"/>
              <a:buNone/>
            </a:pPr>
            <a:endParaRPr lang="en-US" sz="2000">
              <a:latin typeface="Cambria"/>
            </a:endParaRPr>
          </a:p>
          <a:p>
            <a:pPr marL="285750" indent="-285750" algn="just"/>
            <a:r>
              <a:rPr lang="en-US" sz="2000" b="1">
                <a:latin typeface="Cambria"/>
              </a:rPr>
              <a:t>Increased Face Time</a:t>
            </a:r>
            <a:r>
              <a:rPr lang="en-US" sz="2000">
                <a:latin typeface="Cambria"/>
              </a:rPr>
              <a:t>: By automating documentation, clinicians can focus more on patient care. </a:t>
            </a:r>
          </a:p>
          <a:p>
            <a:pPr marL="285750" indent="-285750" algn="just"/>
            <a:endParaRPr lang="en-US" sz="2000">
              <a:latin typeface="Cambria"/>
            </a:endParaRPr>
          </a:p>
          <a:p>
            <a:pPr marL="285750" indent="-285750" algn="just"/>
            <a:r>
              <a:rPr lang="en-US" sz="2000" b="1">
                <a:latin typeface="Cambria"/>
              </a:rPr>
              <a:t>Universal Access</a:t>
            </a:r>
            <a:r>
              <a:rPr lang="en-US" sz="2000">
                <a:latin typeface="Cambria"/>
              </a:rPr>
              <a:t>: A unique patient ID will allow for seamless access to patient records across hospitals. </a:t>
            </a:r>
          </a:p>
          <a:p>
            <a:pPr marL="285750" indent="-285750" algn="just"/>
            <a:endParaRPr lang="en-US" sz="2000">
              <a:latin typeface="Cambria"/>
            </a:endParaRPr>
          </a:p>
          <a:p>
            <a:pPr marL="285750" indent="-285750" algn="just"/>
            <a:r>
              <a:rPr lang="en-US" sz="2000" b="1">
                <a:latin typeface="Cambria"/>
              </a:rPr>
              <a:t>Improved Workflow</a:t>
            </a:r>
            <a:r>
              <a:rPr lang="en-US" sz="2000">
                <a:latin typeface="Cambria"/>
              </a:rPr>
              <a:t>: Streamlined documentation processes lead to faster and more efficient care delivery.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>
              <a:latin typeface="Cambria"/>
              <a:ea typeface="Cambria"/>
            </a:endParaRPr>
          </a:p>
          <a:p>
            <a:pPr marL="76200" indent="0">
              <a:buNone/>
            </a:pPr>
            <a:endParaRPr lang="en-IN"/>
          </a:p>
        </p:txBody>
      </p:sp>
      <p:pic>
        <p:nvPicPr>
          <p:cNvPr id="4" name="Picture 3" descr="A person in a white coat and a person in glasses&#10;&#10;Description automatically generated">
            <a:extLst>
              <a:ext uri="{FF2B5EF4-FFF2-40B4-BE49-F238E27FC236}">
                <a16:creationId xmlns:a16="http://schemas.microsoft.com/office/drawing/2014/main" id="{40E831B6-E69E-7BC9-C9AE-417A32DA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920118"/>
            <a:ext cx="5382382" cy="302985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12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99A5-9FB2-4B62-1A8A-F6BF7674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7C734-B796-4A86-F115-CA3B30785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lose-up of a text&#10;&#10;Description automatically generated">
            <a:extLst>
              <a:ext uri="{FF2B5EF4-FFF2-40B4-BE49-F238E27FC236}">
                <a16:creationId xmlns:a16="http://schemas.microsoft.com/office/drawing/2014/main" id="{1919A035-A132-9E77-D6AC-0884333B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6" y="1009862"/>
            <a:ext cx="11239501" cy="48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3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4EE7-7E57-E1DC-6760-BE0BD280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Documentation</a:t>
            </a:r>
          </a:p>
        </p:txBody>
      </p:sp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5994EAAE-E069-BA5E-01FD-13D1BEB20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" y="2009775"/>
            <a:ext cx="2446245" cy="2446245"/>
          </a:xfrm>
          <a:prstGeom prst="rect">
            <a:avLst/>
          </a:prstGeom>
        </p:spPr>
      </p:pic>
      <p:pic>
        <p:nvPicPr>
          <p:cNvPr id="9" name="Picture 8" descr="Image">
            <a:extLst>
              <a:ext uri="{FF2B5EF4-FFF2-40B4-BE49-F238E27FC236}">
                <a16:creationId xmlns:a16="http://schemas.microsoft.com/office/drawing/2014/main" id="{228BF74B-13A6-043A-43D6-E9190616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005853"/>
            <a:ext cx="2599767" cy="2442884"/>
          </a:xfrm>
          <a:prstGeom prst="rect">
            <a:avLst/>
          </a:prstGeom>
        </p:spPr>
      </p:pic>
      <p:pic>
        <p:nvPicPr>
          <p:cNvPr id="10" name="Picture 9" descr="Image">
            <a:extLst>
              <a:ext uri="{FF2B5EF4-FFF2-40B4-BE49-F238E27FC236}">
                <a16:creationId xmlns:a16="http://schemas.microsoft.com/office/drawing/2014/main" id="{AE0FFF7B-0EAA-0665-EED9-D6FA0E379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469" y="2005853"/>
            <a:ext cx="2610972" cy="244288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E249FD4-9DAE-6892-892C-3E43ACE37BDC}"/>
              </a:ext>
            </a:extLst>
          </p:cNvPr>
          <p:cNvSpPr/>
          <p:nvPr/>
        </p:nvSpPr>
        <p:spPr>
          <a:xfrm>
            <a:off x="2469170" y="3186675"/>
            <a:ext cx="574238" cy="332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3718504-1719-B355-6B7F-31EBE22F703B}"/>
              </a:ext>
            </a:extLst>
          </p:cNvPr>
          <p:cNvSpPr/>
          <p:nvPr/>
        </p:nvSpPr>
        <p:spPr>
          <a:xfrm>
            <a:off x="5651640" y="3231497"/>
            <a:ext cx="574238" cy="332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9C35D6-A369-4EB3-ED67-28D14AAA83C8}"/>
              </a:ext>
            </a:extLst>
          </p:cNvPr>
          <p:cNvSpPr/>
          <p:nvPr/>
        </p:nvSpPr>
        <p:spPr>
          <a:xfrm>
            <a:off x="8845316" y="3231497"/>
            <a:ext cx="574238" cy="332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mage">
            <a:extLst>
              <a:ext uri="{FF2B5EF4-FFF2-40B4-BE49-F238E27FC236}">
                <a16:creationId xmlns:a16="http://schemas.microsoft.com/office/drawing/2014/main" id="{775A5D0F-D4C1-2701-BA93-F6912D937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147" y="2005853"/>
            <a:ext cx="2756649" cy="24652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B198B5-B0CA-D486-B76C-401B66FBEEAB}"/>
              </a:ext>
            </a:extLst>
          </p:cNvPr>
          <p:cNvSpPr txBox="1"/>
          <p:nvPr/>
        </p:nvSpPr>
        <p:spPr>
          <a:xfrm>
            <a:off x="292374" y="4612927"/>
            <a:ext cx="21760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Cambria"/>
              </a:rPr>
              <a:t>Consulting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9C86AB-7E71-7291-6822-E2656666AC2E}"/>
              </a:ext>
            </a:extLst>
          </p:cNvPr>
          <p:cNvSpPr txBox="1"/>
          <p:nvPr/>
        </p:nvSpPr>
        <p:spPr>
          <a:xfrm>
            <a:off x="3362785" y="4612927"/>
            <a:ext cx="21760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Cambria"/>
              </a:rPr>
              <a:t>Lab Reports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B07E09-0273-0DA0-3DFE-F210E783A59E}"/>
              </a:ext>
            </a:extLst>
          </p:cNvPr>
          <p:cNvSpPr txBox="1"/>
          <p:nvPr/>
        </p:nvSpPr>
        <p:spPr>
          <a:xfrm>
            <a:off x="6556461" y="4612926"/>
            <a:ext cx="22993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Cambria"/>
              </a:rPr>
              <a:t>Manual Inputs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0E54C-CAE8-F074-4C53-4241F35FFE2B}"/>
              </a:ext>
            </a:extLst>
          </p:cNvPr>
          <p:cNvSpPr txBox="1"/>
          <p:nvPr/>
        </p:nvSpPr>
        <p:spPr>
          <a:xfrm>
            <a:off x="9727726" y="4612927"/>
            <a:ext cx="24450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Cambria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75558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78D3-BF4D-32B1-8E27-569EB30D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Consultation          </a:t>
            </a:r>
            <a:r>
              <a:rPr lang="en-US" dirty="0">
                <a:solidFill>
                  <a:srgbClr val="00B0F0"/>
                </a:solidFill>
              </a:rPr>
              <a:t>Lab Reports          </a:t>
            </a:r>
            <a:r>
              <a:rPr lang="en-US" dirty="0">
                <a:solidFill>
                  <a:srgbClr val="92D050"/>
                </a:solidFill>
              </a:rPr>
              <a:t>Manual Inputs</a:t>
            </a:r>
            <a:r>
              <a:rPr lang="en-US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974A2-8F97-2408-8700-FF74841A1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A8BA2DAC-E4CE-4377-DE80-A2FECE74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0" y="1145193"/>
            <a:ext cx="10825539" cy="459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42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F620-B8B7-4CFF-A443-4A68DA6E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Audio Transcript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FF735-0253-AED2-9113-8CD5847C7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7181" y="1409096"/>
            <a:ext cx="11091333" cy="5448904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/>
              <a:t>"So, </a:t>
            </a:r>
            <a:r>
              <a:rPr lang="en-US" err="1"/>
              <a:t>Mariappa</a:t>
            </a:r>
            <a:r>
              <a:rPr lang="en-US" dirty="0"/>
              <a:t>, how have you been feeling lately?"  "I've been having a persistent cough for about a week, and it's making me feel really weak," "Any fever or shortness of breath?" "No fever, but sometimes I feel a bit out of breath after walking,"  "Do you have any history of asthma or allergies?"  "No, none that I know of, but I do have iron deficiency anemia,"  "Alright, let me listen to your lungs. Take a deep breath," After a brief examination, the doctor noted, "Your lungs sound clear, but I’ll order a chest X-ray just to be sure. I’ll prescribe you some cough medicine and adjust your iron supplements. If the cough doesn’t improve, come back, and we’ll investigate further."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2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15D0-0D5D-1039-00A0-590A1F60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Speaker Mapped Diarization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7E1AD-867F-8FB0-940B-C89DB2FAC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Doctor:</a:t>
            </a:r>
            <a:r>
              <a:rPr lang="en-US" dirty="0"/>
              <a:t> "So, </a:t>
            </a:r>
            <a:r>
              <a:rPr lang="en-US" err="1"/>
              <a:t>Mariappa</a:t>
            </a:r>
            <a:r>
              <a:rPr lang="en-US" dirty="0"/>
              <a:t>, how have you been feeling lately?"  </a:t>
            </a:r>
          </a:p>
          <a:p>
            <a:pPr>
              <a:buNone/>
            </a:pPr>
            <a:r>
              <a:rPr lang="en-US" b="1" err="1"/>
              <a:t>Mariappa</a:t>
            </a:r>
            <a:r>
              <a:rPr lang="en-US" b="1" dirty="0"/>
              <a:t>:</a:t>
            </a:r>
            <a:r>
              <a:rPr lang="en-US" dirty="0"/>
              <a:t> "I've been having a persistent cough for about a week, and it's making me feel really weak."  </a:t>
            </a:r>
          </a:p>
          <a:p>
            <a:pPr>
              <a:buNone/>
            </a:pPr>
            <a:r>
              <a:rPr lang="en-US" b="1" dirty="0"/>
              <a:t>Doctor:</a:t>
            </a:r>
            <a:r>
              <a:rPr lang="en-US" dirty="0"/>
              <a:t> "Any fever or shortness of breath?"  </a:t>
            </a:r>
          </a:p>
          <a:p>
            <a:pPr>
              <a:buNone/>
            </a:pPr>
            <a:r>
              <a:rPr lang="en-US" b="1" dirty="0" err="1"/>
              <a:t>Mariappa</a:t>
            </a:r>
            <a:r>
              <a:rPr lang="en-US" b="1" dirty="0"/>
              <a:t>:</a:t>
            </a:r>
            <a:r>
              <a:rPr lang="en-US" dirty="0"/>
              <a:t> "No fever, but sometimes I feel a bit out of breath after walking."  </a:t>
            </a:r>
          </a:p>
          <a:p>
            <a:pPr>
              <a:buNone/>
            </a:pPr>
            <a:r>
              <a:rPr lang="en-US" b="1" dirty="0"/>
              <a:t>Doctor:</a:t>
            </a:r>
            <a:r>
              <a:rPr lang="en-US" dirty="0"/>
              <a:t> "Do you have any history of asthma or allergies?"  </a:t>
            </a:r>
          </a:p>
          <a:p>
            <a:pPr>
              <a:buNone/>
            </a:pPr>
            <a:r>
              <a:rPr lang="en-US" b="1" dirty="0" err="1"/>
              <a:t>Mariappa</a:t>
            </a:r>
            <a:r>
              <a:rPr lang="en-US" b="1" dirty="0"/>
              <a:t>:</a:t>
            </a:r>
            <a:r>
              <a:rPr lang="en-US" dirty="0"/>
              <a:t> "No, none that I know of, but I do have iron deficiency       anemia."  </a:t>
            </a:r>
          </a:p>
          <a:p>
            <a:pPr>
              <a:buNone/>
            </a:pPr>
            <a:r>
              <a:rPr lang="en-US" b="1" dirty="0"/>
              <a:t>Doctor:</a:t>
            </a:r>
            <a:r>
              <a:rPr lang="en-US" dirty="0"/>
              <a:t> "Alright, let me listen to your lungs. Take a deep breath."  </a:t>
            </a:r>
          </a:p>
          <a:p>
            <a:pPr>
              <a:buNone/>
            </a:pPr>
            <a:r>
              <a:rPr lang="en-US" b="1" dirty="0"/>
              <a:t>Doctor:</a:t>
            </a:r>
            <a:r>
              <a:rPr lang="en-US" dirty="0"/>
              <a:t> "Your lungs sound clear, but I’ll order a chest X-ray just to be sure.  I’ll prescribe you some cough medicine and adjust your iron supplements. If the cough doesn’t improve, come back, and we’ll investigate further."  </a:t>
            </a:r>
          </a:p>
          <a:p>
            <a:pPr marL="76200" indent="0">
              <a:buNone/>
            </a:pPr>
            <a:r>
              <a:rPr lang="en-US" b="1" dirty="0" err="1"/>
              <a:t>Mariappa</a:t>
            </a:r>
            <a:r>
              <a:rPr lang="en-US" b="1" dirty="0"/>
              <a:t>:</a:t>
            </a:r>
            <a:r>
              <a:rPr lang="en-US" dirty="0"/>
              <a:t> "Thank you, Doctor."</a:t>
            </a:r>
          </a:p>
        </p:txBody>
      </p:sp>
    </p:spTree>
    <p:extLst>
      <p:ext uri="{BB962C8B-B14F-4D97-AF65-F5344CB8AC3E}">
        <p14:creationId xmlns:p14="http://schemas.microsoft.com/office/powerpoint/2010/main" val="68308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332CB4-8176-6E29-90D0-9CA21863B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39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568385" y="1157377"/>
            <a:ext cx="10873619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7F99BA-5AFA-A9EB-0685-0BCCBD66BD19}"/>
              </a:ext>
            </a:extLst>
          </p:cNvPr>
          <p:cNvSpPr/>
          <p:nvPr/>
        </p:nvSpPr>
        <p:spPr>
          <a:xfrm>
            <a:off x="847824" y="1300204"/>
            <a:ext cx="2868022" cy="4249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600" baseline="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IN" sz="1600" b="1" baseline="0" dirty="0">
              <a:cs typeface="Arial"/>
            </a:endParaRPr>
          </a:p>
          <a:p>
            <a:endParaRPr lang="en-IN" sz="1600" dirty="0">
              <a:cs typeface="Arial"/>
            </a:endParaRPr>
          </a:p>
          <a:p>
            <a:endParaRPr lang="en-IN" sz="1600" dirty="0"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Collecting Training Data</a:t>
            </a:r>
          </a:p>
          <a:p>
            <a:pPr algn="ctr"/>
            <a:endParaRPr lang="en-IN" sz="1600" dirty="0">
              <a:cs typeface="Arial"/>
            </a:endParaRPr>
          </a:p>
          <a:p>
            <a:pPr algn="ctr"/>
            <a:endParaRPr lang="en-IN" sz="1600" dirty="0">
              <a:cs typeface="Arial"/>
            </a:endParaRPr>
          </a:p>
          <a:p>
            <a:pPr algn="ctr"/>
            <a:r>
              <a:rPr lang="en-IN" sz="1600" dirty="0"/>
              <a:t>Training the Model</a:t>
            </a:r>
            <a:endParaRPr lang="en-IN" sz="1600" dirty="0">
              <a:cs typeface="Arial"/>
            </a:endParaRPr>
          </a:p>
          <a:p>
            <a:pPr algn="ctr"/>
            <a:endParaRPr lang="en-IN" dirty="0">
              <a:cs typeface="Arial"/>
            </a:endParaRPr>
          </a:p>
          <a:p>
            <a:pPr algn="ctr"/>
            <a:endParaRPr lang="en-IN" dirty="0">
              <a:cs typeface="Arial"/>
            </a:endParaRPr>
          </a:p>
          <a:p>
            <a:pPr algn="ctr"/>
            <a:r>
              <a:rPr lang="en-IN" sz="1600" dirty="0"/>
              <a:t>Speech Diarization</a:t>
            </a:r>
            <a:endParaRPr lang="en-IN" sz="1600" dirty="0">
              <a:cs typeface="Arial"/>
            </a:endParaRPr>
          </a:p>
          <a:p>
            <a:pPr algn="ctr"/>
            <a:endParaRPr lang="en-IN" dirty="0">
              <a:cs typeface="Arial"/>
            </a:endParaRPr>
          </a:p>
          <a:p>
            <a:pPr algn="ctr"/>
            <a:endParaRPr lang="en-IN" dirty="0"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Speaker Mapped Transcription</a:t>
            </a:r>
            <a:endParaRPr lang="en-IN" sz="1600" dirty="0">
              <a:solidFill>
                <a:srgbClr val="000000"/>
              </a:solidFill>
              <a:cs typeface="Arial"/>
            </a:endParaRPr>
          </a:p>
          <a:p>
            <a:pPr algn="ctr"/>
            <a:endParaRPr lang="en-IN" dirty="0">
              <a:cs typeface="Arial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5629F-C28E-6747-79EF-6E4E454D3DC3}"/>
              </a:ext>
            </a:extLst>
          </p:cNvPr>
          <p:cNvSpPr/>
          <p:nvPr/>
        </p:nvSpPr>
        <p:spPr>
          <a:xfrm>
            <a:off x="4414630" y="1300206"/>
            <a:ext cx="2964784" cy="4249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600" b="1" dirty="0"/>
          </a:p>
          <a:p>
            <a:pPr algn="ctr"/>
            <a:r>
              <a:rPr lang="en-IN" sz="1600" b="1" dirty="0">
                <a:cs typeface="Arial"/>
              </a:rPr>
              <a:t>Phase 2(Mid Oct-Mid Nov)</a:t>
            </a:r>
            <a:endParaRPr lang="en-US" sz="1600" b="1" dirty="0">
              <a:solidFill>
                <a:srgbClr val="000000"/>
              </a:solidFill>
              <a:cs typeface="Arial"/>
            </a:endParaRPr>
          </a:p>
          <a:p>
            <a:pPr algn="ctr"/>
            <a:endParaRPr lang="en-IN" dirty="0">
              <a:solidFill>
                <a:srgbClr val="000000"/>
              </a:solidFill>
              <a:cs typeface="Arial"/>
            </a:endParaRPr>
          </a:p>
          <a:p>
            <a:pPr algn="ctr"/>
            <a:endParaRPr lang="en-IN" sz="1600" dirty="0"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Summarizing the Mapped Transcript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sz="1600" dirty="0"/>
          </a:p>
          <a:p>
            <a:pPr algn="ctr"/>
            <a:endParaRPr lang="en-IN" dirty="0"/>
          </a:p>
          <a:p>
            <a:pPr algn="ctr"/>
            <a:r>
              <a:rPr lang="en-IN" sz="1600" dirty="0">
                <a:cs typeface="Arial"/>
              </a:rPr>
              <a:t>Summarizing Lab Reports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sz="1600" dirty="0">
              <a:solidFill>
                <a:srgbClr val="FFFFFF"/>
              </a:solidFill>
              <a:cs typeface="Arial"/>
            </a:endParaRPr>
          </a:p>
          <a:p>
            <a:pPr algn="ctr"/>
            <a:endParaRPr lang="en-IN" sz="1600" dirty="0">
              <a:solidFill>
                <a:srgbClr val="000000"/>
              </a:solidFill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Speech to Text Summarization of Manual Inputs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F859D-E3E4-9595-E0D3-39EB0AD52453}"/>
              </a:ext>
            </a:extLst>
          </p:cNvPr>
          <p:cNvSpPr/>
          <p:nvPr/>
        </p:nvSpPr>
        <p:spPr>
          <a:xfrm>
            <a:off x="8198546" y="1300205"/>
            <a:ext cx="2941484" cy="4249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600" dirty="0">
              <a:cs typeface="Arial"/>
            </a:endParaRPr>
          </a:p>
          <a:p>
            <a:pPr algn="ctr"/>
            <a:endParaRPr lang="en-IN" sz="1600" dirty="0">
              <a:cs typeface="Arial"/>
            </a:endParaRPr>
          </a:p>
          <a:p>
            <a:pPr algn="ctr"/>
            <a:endParaRPr lang="en-IN" sz="1600" dirty="0"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Creating and training to fit the summarization on defined format </a:t>
            </a:r>
            <a:endParaRPr lang="en-IN" dirty="0"/>
          </a:p>
          <a:p>
            <a:pPr algn="ctr"/>
            <a:endParaRPr lang="en-IN" sz="1600" dirty="0">
              <a:solidFill>
                <a:srgbClr val="000000"/>
              </a:solidFill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Generating the pdf  </a:t>
            </a:r>
            <a:endParaRPr lang="en-IN" dirty="0"/>
          </a:p>
          <a:p>
            <a:pPr algn="ctr"/>
            <a:endParaRPr lang="en-IN" sz="1600" dirty="0">
              <a:cs typeface="Arial"/>
            </a:endParaRPr>
          </a:p>
          <a:p>
            <a:pPr algn="ctr"/>
            <a:endParaRPr lang="en-IN" sz="1600" dirty="0">
              <a:cs typeface="Arial"/>
            </a:endParaRPr>
          </a:p>
          <a:p>
            <a:pPr algn="ctr"/>
            <a:r>
              <a:rPr lang="en-IN" sz="1600" dirty="0">
                <a:cs typeface="Arial"/>
              </a:rPr>
              <a:t>Creating the user interface store and access management through database</a:t>
            </a:r>
          </a:p>
          <a:p>
            <a:pPr algn="ctr"/>
            <a:endParaRPr lang="en-IN" sz="1600" dirty="0">
              <a:solidFill>
                <a:srgbClr val="000000"/>
              </a:solidFill>
              <a:cs typeface="Arial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cs typeface="Arial"/>
              </a:rPr>
              <a:t>Prescription AI</a:t>
            </a:r>
          </a:p>
          <a:p>
            <a:pPr algn="ctr"/>
            <a:endParaRPr lang="en-IN" dirty="0"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AA054C-1D1B-2544-CF6E-F21B9EC159B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724323" y="3425096"/>
            <a:ext cx="69030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C9C703-D394-856E-7832-E121D10839C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379414" y="3425097"/>
            <a:ext cx="81913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6749B7A-0250-6D89-A264-05E36F3E5B08}"/>
              </a:ext>
            </a:extLst>
          </p:cNvPr>
          <p:cNvSpPr txBox="1"/>
          <p:nvPr/>
        </p:nvSpPr>
        <p:spPr>
          <a:xfrm>
            <a:off x="8196264" y="1542170"/>
            <a:ext cx="28307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Phase 3(Mid Nov-Mid Dec)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9F31F-8332-62F1-E0CD-87CDA0C4AC8D}"/>
              </a:ext>
            </a:extLst>
          </p:cNvPr>
          <p:cNvSpPr txBox="1"/>
          <p:nvPr/>
        </p:nvSpPr>
        <p:spPr>
          <a:xfrm>
            <a:off x="808285" y="1547159"/>
            <a:ext cx="290706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Phase 1(Mid Sept-Mid Oct)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711200" y="76213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 marL="7620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1)   M. M. Kabir, M. F.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Mridha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J. Shin, I. Jahan and A. Q. Ohi, "A Survey of Speaker Recognition: Fundamental Theories, Recognition Methods and Opportunities," in IEEE Access, vol. 9, pp.79236-79263, 2021,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10.1109/ACCESS.2021.3084299.</a:t>
            </a: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2)    Sarah Levine,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Hsiaolin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Hsieh, Emily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Southerton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Rebecca Silverman, How high school students used speech-to-text as a composition tool, Computers and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Composition,Volume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68,2023,102775,ISSN 8755-4615,https://doi.org/10.1016/j.compcom.2023.102775.</a:t>
            </a: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3)   Jun Zhang,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Jingyue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Wu, Yiyi Qiu, Aiguo Song,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Weifeng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Li, Xin Li,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Yecheng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Liu, Intelligent speech technologies for transcription, disease diagnosis, and medical equipment interactive control in smart hospitals: A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review,Computers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Biology and </a:t>
            </a:r>
            <a:r>
              <a:rPr lang="en-US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Medicine,Volume</a:t>
            </a:r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153,2023,106517,ISSN 0010-4825,https://doi.org/10.1016/j.compbiomed.2022.106517.</a:t>
            </a: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 algn="just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4)  Johnson, S.J., Murty, M.R. &amp;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Navakanth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I. A detailed review on word embedding techniques with emphasis on word2vec. </a:t>
            </a:r>
            <a:r>
              <a:rPr lang="en-US" sz="1800" b="0" i="1" dirty="0" err="1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Multimed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Tools Appl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i="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83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37979–38007 (2024). https://doi.org/10.1007/s11042-023-17007-z.</a:t>
            </a:r>
            <a:endPara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 marL="76200" indent="0" algn="just">
              <a:buNone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 algn="just">
              <a:buNone/>
            </a:pPr>
            <a:endParaRPr lang="en-US" sz="1800" dirty="0">
              <a:solidFill>
                <a:schemeClr val="tx1"/>
              </a:solidFill>
              <a:latin typeface="Cambria"/>
            </a:endParaRPr>
          </a:p>
          <a:p>
            <a:pPr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>
              <a:buNone/>
            </a:pPr>
            <a:endParaRPr lang="en-US" sz="1800" dirty="0">
              <a:solidFill>
                <a:srgbClr val="1F1F1F"/>
              </a:solidFill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800" dirty="0">
              <a:solidFill>
                <a:srgbClr val="333333"/>
              </a:solidFill>
            </a:endParaRPr>
          </a:p>
          <a:p>
            <a:pPr marL="495300" indent="-342900">
              <a:spcBef>
                <a:spcPts val="0"/>
              </a:spcBef>
              <a:buAutoNum type="arabicPeriod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800" dirty="0">
                <a:latin typeface="Cambria"/>
                <a:ea typeface="Cambria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870</Words>
  <Application>Microsoft Office PowerPoint</Application>
  <PresentationFormat>Widescreen</PresentationFormat>
  <Paragraphs>161</Paragraphs>
  <Slides>18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Bioinformatics</vt:lpstr>
      <vt:lpstr>AI powered automated patient documentation and prescription software</vt:lpstr>
      <vt:lpstr>Content</vt:lpstr>
      <vt:lpstr>Problem Statement Number: PSCS45 </vt:lpstr>
      <vt:lpstr>Github Link</vt:lpstr>
      <vt:lpstr>Analysis of Problem Statement</vt:lpstr>
      <vt:lpstr>Analysis of Problem Statement (contd...)</vt:lpstr>
      <vt:lpstr>Analysis of Problem Statement (contd...)</vt:lpstr>
      <vt:lpstr>Analysis of Problem Statement (contd...)</vt:lpstr>
      <vt:lpstr>Analysis of Problem Statement (contd...)</vt:lpstr>
      <vt:lpstr>Sample Documentation</vt:lpstr>
      <vt:lpstr>Process of Documentation</vt:lpstr>
      <vt:lpstr>Consultation          Lab Reports          Manual Inputs </vt:lpstr>
      <vt:lpstr>Live Audio Transcript</vt:lpstr>
      <vt:lpstr>Speaker Mapped Diarization</vt:lpstr>
      <vt:lpstr>PowerPoint Presentation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>Srinivas S</cp:lastModifiedBy>
  <cp:revision>150</cp:revision>
  <dcterms:modified xsi:type="dcterms:W3CDTF">2024-09-18T06:05:03Z</dcterms:modified>
</cp:coreProperties>
</file>